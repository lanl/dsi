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8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8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Person / contact links</c:v>
                </c:pt>
                <c:pt idx="1">
                  <c:v>Resource-named properties</c:v>
                </c:pt>
                <c:pt idx="2">
                  <c:v>Resource URLs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9436</c:v>
                </c:pt>
                <c:pt idx="1">
                  <c:v>1348</c:v>
                </c:pt>
                <c:pt idx="2">
                  <c:v>1117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A1-4294-AC2A-6AF90A8F40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A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00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URLs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accessit.lanl.gov</c:v>
                </c:pt>
                <c:pt idx="1">
                  <c:v>edwebserver.lanl.gov</c:v>
                </c:pt>
                <c:pt idx="2">
                  <c:v>weather.lanl.gov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520</c:v>
                </c:pt>
                <c:pt idx="1">
                  <c:v>32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BD-49E2-BC2C-A35E5F1ED7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URLs</c:v>
                </c:pt>
              </c:strCache>
            </c:strRef>
          </c:tx>
          <c:spPr>
            <a:solidFill>
              <a:srgbClr val="4A6F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etrm.live (Oracle eTRM)</c:v>
                </c:pt>
                <c:pt idx="1">
                  <c:v>docs.oracle.com</c:v>
                </c:pt>
                <c:pt idx="2">
                  <c:v>weather.lanl.gov</c:v>
                </c:pt>
                <c:pt idx="3">
                  <c:v>edwebserver.lanl.gov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399</c:v>
                </c:pt>
                <c:pt idx="1">
                  <c:v>71</c:v>
                </c:pt>
                <c:pt idx="2">
                  <c:v>34</c:v>
                </c:pt>
                <c:pt idx="3">
                  <c:v>30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B3-4766-9667-8EBA7C5A50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A2A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"/>
        </c:scaling>
        <c:delete val="0"/>
        <c:axPos val="b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Resource-bearing views (cumulative)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0.5k</c:v>
                </c:pt>
                <c:pt idx="1">
                  <c:v>1k</c:v>
                </c:pt>
                <c:pt idx="2">
                  <c:v>1.5k</c:v>
                </c:pt>
                <c:pt idx="3">
                  <c:v>2k</c:v>
                </c:pt>
                <c:pt idx="4">
                  <c:v>2.5k</c:v>
                </c:pt>
                <c:pt idx="5">
                  <c:v>3k</c:v>
                </c:pt>
                <c:pt idx="6">
                  <c:v>3.5k</c:v>
                </c:pt>
                <c:pt idx="7">
                  <c:v>4k</c:v>
                </c:pt>
                <c:pt idx="8">
                  <c:v>4.5k</c:v>
                </c:pt>
                <c:pt idx="9">
                  <c:v>5k</c:v>
                </c:pt>
                <c:pt idx="10">
                  <c:v>5.5k</c:v>
                </c:pt>
                <c:pt idx="11">
                  <c:v>6k</c:v>
                </c:pt>
                <c:pt idx="12">
                  <c:v>6.5k</c:v>
                </c:pt>
                <c:pt idx="13">
                  <c:v>7k</c:v>
                </c:pt>
                <c:pt idx="14">
                  <c:v>7.5k</c:v>
                </c:pt>
                <c:pt idx="15">
                  <c:v>8k</c:v>
                </c:pt>
                <c:pt idx="16">
                  <c:v>8.5k</c:v>
                </c:pt>
                <c:pt idx="17">
                  <c:v>9k</c:v>
                </c:pt>
                <c:pt idx="18">
                  <c:v>9.5k</c:v>
                </c:pt>
                <c:pt idx="19">
                  <c:v>10k</c:v>
                </c:pt>
                <c:pt idx="20">
                  <c:v>10.5k</c:v>
                </c:pt>
                <c:pt idx="21">
                  <c:v>11k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26</c:v>
                </c:pt>
                <c:pt idx="4">
                  <c:v>34</c:v>
                </c:pt>
                <c:pt idx="5">
                  <c:v>35</c:v>
                </c:pt>
                <c:pt idx="6">
                  <c:v>179</c:v>
                </c:pt>
                <c:pt idx="7">
                  <c:v>616</c:v>
                </c:pt>
                <c:pt idx="8">
                  <c:v>1086</c:v>
                </c:pt>
                <c:pt idx="9">
                  <c:v>1359</c:v>
                </c:pt>
                <c:pt idx="10">
                  <c:v>1381</c:v>
                </c:pt>
                <c:pt idx="11">
                  <c:v>1599</c:v>
                </c:pt>
                <c:pt idx="12">
                  <c:v>1956</c:v>
                </c:pt>
                <c:pt idx="13">
                  <c:v>2276</c:v>
                </c:pt>
                <c:pt idx="14">
                  <c:v>2314</c:v>
                </c:pt>
                <c:pt idx="15">
                  <c:v>2315</c:v>
                </c:pt>
                <c:pt idx="16">
                  <c:v>2337</c:v>
                </c:pt>
                <c:pt idx="17">
                  <c:v>2371</c:v>
                </c:pt>
                <c:pt idx="18">
                  <c:v>2437</c:v>
                </c:pt>
                <c:pt idx="19">
                  <c:v>2890</c:v>
                </c:pt>
                <c:pt idx="20">
                  <c:v>3364</c:v>
                </c:pt>
                <c:pt idx="21">
                  <c:v>3862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8E-4EFC-B2DB-EC4B599E9F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0T18:46:05.20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31,'35'-2,"57"-10,10-1,273 9,-216 5,-135-1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0T18:46:07.1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1,'672'0,"-643"0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0T18:46:09.4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1,'5'0,"6"0,7 0,4 0,4 0,2 0,0 0,2 0,-1 0,1 0,-1 0,-1 0,-4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23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DSI × DENODO DATA CATALOG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— Layer-3 Resource Probe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scan of all 15,007 active views on dev — answering “do layer-3 resources exist, and where do they live?” before locking the DSI schema.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 the ~15,000 views on dev, N have layer-3 resources, distributed across these metadata fields.”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337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decision pending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366674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DSI backend include a dedicated resources / attachments field? Guessing risks either dead weight or a missing capability.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44348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389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documentation answers this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80160" y="4718304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Catalog exposes no “attachments” concept in its API docs — only an empirical scan of real metadata can tell us what exists.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Three-step probe over the live API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ENUMERATE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/public/api/views?serverId=1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returns all elements; filtered client-side to database dataportal, skipping deleted views → 15,007 active views.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INSPECT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99432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/public/api/view-details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9432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view, keyed on (viewName, databaseName, serverId). Scan propertyInfo maps + description for three signal types: URLs in RICH_TEXT (extracted from raw HTML before stripping), resource-suggesting property names, explicit attachment fields.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RECORD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75904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6FD4"/>
                </a:solidFill>
                <a:highlight>
                  <a:srgbClr val="FFFF0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· probe_results.db</a:t>
            </a:r>
            <a:endParaRPr lang="en-US" sz="1250" dirty="0">
              <a:highlight>
                <a:srgbClr val="FFFF00"/>
              </a:highlight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75904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hit saved as (view, signal_type, property, evidence); checkpoint table makes the sweep fully resumable — interrupted and resumed across office and home sessions.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Politeness &amp; resilience:  </a:t>
            </a:r>
            <a:r>
              <a:rPr lang="en-US" sz="13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(Authorization Code) with automatic token refresh across the ~5-hour total runtime · 6 concurrent workers (within the 4–8 limit for the shared dev server) · pooled TLS connections · exponential-backoff retries · checkpoint every 500 views.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NOTES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probe verified the API contract along the way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892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≠ prod schemas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endpoint returns db on dev but databaseName on prod — one more entry in the known dev/prod drift (15,007 vs ~4,418 views). The client now handles both.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7960" y="18928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view-details params verified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1343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request keys are viewName, databaseName, serverId — confirmed via Swagger after the documented guesses returned 401. Stateless Bearer auth works on every endpoint; no session dance required.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live in propertyInfo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537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sit under summaryPropertyMap groups as visualValue (HTML for RICH_TEXT). URLs live inside href attributes — so extraction runs on raw HTML before tag-stripping.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3192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37960" y="4133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views are un-probeable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7960" y="45537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follow the vlanl*task naming pattern and consistently return HTTP 500 — a systematically broken view family on dev worth reporting as a data-quality finding (coverage: 14,995 / 15,007 = 99.9%).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41E1CD-3947-4D64-4B68-422A6457D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1271286"/>
            <a:ext cx="11622122" cy="43154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E9A608-EC22-7633-AF7C-6C5E2FBA906A}"/>
              </a:ext>
            </a:extLst>
          </p:cNvPr>
          <p:cNvSpPr txBox="1"/>
          <p:nvPr/>
        </p:nvSpPr>
        <p:spPr>
          <a:xfrm>
            <a:off x="545123" y="580292"/>
            <a:ext cx="875713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b="1" dirty="0">
                <a:latin typeface="Cambria" panose="02040503050406030204" pitchFamily="18" charset="0"/>
                <a:ea typeface="Cambria" panose="02040503050406030204" pitchFamily="18" charset="0"/>
              </a:rPr>
              <a:t>The ideal Tri-layer Model: </a:t>
            </a:r>
            <a:endParaRPr lang="en-US" sz="33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99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 the ~15,000 views on dev, N have layer-3 resources, distributed across these metadata fields.”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views probed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63824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5,366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10712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39312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any layer-3 signal (incl. contact links)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25896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A6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829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72784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01384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any embedded URL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87968" y="28803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34856" y="20574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134856" y="2971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63456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verified documentation link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for the meeting:  </a:t>
            </a:r>
            <a:r>
              <a:rPr lang="en-US" sz="1600" i="1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layer-3 metadata exists on a third of views — but only 544 views (1 in 28) link to genuine documentation.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A17746-C803-427D-BA25-61733D5A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477" y="754148"/>
            <a:ext cx="6287045" cy="53497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3193DC6-56EE-DB16-5E6E-F314D08F4287}"/>
                  </a:ext>
                </a:extLst>
              </p14:cNvPr>
              <p14:cNvContentPartPr/>
              <p14:nvPr/>
            </p14:nvContentPartPr>
            <p14:xfrm>
              <a:off x="3617040" y="4622200"/>
              <a:ext cx="283680" cy="11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3193DC6-56EE-DB16-5E6E-F314D08F42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63040" y="4514200"/>
                <a:ext cx="39132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5F6042-ADF4-D484-0819-A30E00BB4228}"/>
                  </a:ext>
                </a:extLst>
              </p14:cNvPr>
              <p14:cNvContentPartPr/>
              <p14:nvPr/>
            </p14:nvContentPartPr>
            <p14:xfrm>
              <a:off x="3586080" y="4927120"/>
              <a:ext cx="25272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5F6042-ADF4-D484-0819-A30E00BB422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2440" y="4819480"/>
                <a:ext cx="3603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61A8AAB-1D31-1AD4-34A8-7F38706C435D}"/>
                  </a:ext>
                </a:extLst>
              </p14:cNvPr>
              <p14:cNvContentPartPr/>
              <p14:nvPr/>
            </p14:nvContentPartPr>
            <p14:xfrm>
              <a:off x="6258360" y="5364520"/>
              <a:ext cx="11124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61A8AAB-1D31-1AD4-34A8-7F38706C435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04360" y="5256880"/>
                <a:ext cx="2188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006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kind of signals? Mostly people, not documents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11,901 signals total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18120" y="2331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are contact links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818120" y="266090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Point of Contact (5,084) and Data Owner (4,351) — links to the LANL people directory, not documents. Counted separately so they don't inflate the resource number.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818120" y="3566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links per view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18120" y="389534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9,436 contact links across 5,167 views — the POC + Data Owner pattern seen on nearly every populated view.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18120" y="48006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ODS DB Link is lineage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18120" y="5129784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1,347 of 1,348 “resource-named” hits are one property matched on the word Link. Verified: values are Oracle DB-link identifiers (EBS_LINK 63%, SNFLWR_LINK, ARIBA_LINK; 0 of 1,347 contain a URL; 182 literally say NOLINK) — excluded from Layer 3, promoted to Layer-1 source_system.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URLs actually point 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Access Role Request · 558 URLs</a:t>
            </a:r>
            <a:endParaRPr lang="en-US" sz="15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377440"/>
          <a:ext cx="49377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2296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→ LANL's access-request portal.  </a:t>
            </a:r>
            <a:r>
              <a:rPr lang="en-US" sz="12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access instructions, not documents — excluded from Layer 3, mapped to a dedicated access_instructions field.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91640"/>
            <a:ext cx="5486400" cy="3291840"/>
          </a:xfrm>
          <a:prstGeom prst="roundRect">
            <a:avLst>
              <a:gd name="adj" fmla="val 2222"/>
            </a:avLst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37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(free text) · 544 URLs</a:t>
            </a:r>
            <a:endParaRPr lang="en-US" sz="155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537960" y="2377440"/>
          <a:ext cx="493776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537960" y="41148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→ Oracle table-reference docs.  </a:t>
            </a:r>
            <a:r>
              <a:rPr lang="en-US" sz="12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view links to its own source table's data-dictionary page — genuine documentation, exactly 1 URL per view (544 URLs / 544 views).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richness is clustered, not uniform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72237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resource-bearing views over the main sweep (views processed ≈ alphabetical order)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092440" y="18288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flat stretches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1762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500–3,000 added almost nothing (5 → 35) — entire alphabetical families carry no layer-3 metadata at all.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bursts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92440" y="35478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3,500–5,000 exploded from 179 to 1,359 — specific view families / business units maintain rich metadata.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4572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implication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4919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Layer-3 presence cannot be assumed. The DSI backend must treat resources as sparse, optional data — present on some sources, absent on most.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A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probed field found its home in the tri-layer model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field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02336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in DSI schema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06640" y="1645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evidence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Details / ODS DB Link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· source_system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DB-link identifiers (EBS, Snowflake, Ariba) — lineage, not files. 182 values are literally NOLINK.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27355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POC / Data Owner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023360" y="32735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metadata · contacts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06640" y="3273552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9,436 people-directory links — the dominant layer-3 content is people; modeled as contacts, never as documents.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61104"/>
            <a:ext cx="11064240" cy="914400"/>
          </a:xfrm>
          <a:prstGeom prst="rect">
            <a:avLst/>
          </a:prstGeom>
          <a:solidFill>
            <a:srgbClr val="F4F7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26110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/ Access Role Request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23360" y="426110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 metadata · access_instructions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406640" y="4261104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point to accessit.lanl.gov — how to request access, repeated near-verbatim across views.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2486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→ embedded URL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23360" y="524865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F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documentation_url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406640" y="52486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 views, exactly one link each; 86% Oracle table-reference docs. The only true Layer-3 population.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probe did more than count — it reclassified every candidate field into the correct layer, with evidence.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A35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55648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“Of 15,007 active views on dev, 544 (3.6%) carry a genuine documentation link — one per view, 86% pointing to Oracle table-reference docs — embedded in the description field. No structured resource field exists; the DSI backend will harvest these at ingest.”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672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documentation_url — optional scalar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81144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access_instructions + source_system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81144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57616" y="36118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contacts separately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44348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4828</TotalTime>
  <Words>1120</Words>
  <Application>Microsoft Office PowerPoint</Application>
  <PresentationFormat>Widescreen</PresentationFormat>
  <Paragraphs>110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Ngo, Ryan</cp:lastModifiedBy>
  <cp:revision>3</cp:revision>
  <dcterms:created xsi:type="dcterms:W3CDTF">2026-07-16T18:30:00Z</dcterms:created>
  <dcterms:modified xsi:type="dcterms:W3CDTF">2026-07-20T23:42:51Z</dcterms:modified>
</cp:coreProperties>
</file>